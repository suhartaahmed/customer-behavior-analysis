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anken Grotesk"/>
      <p:regular r:id="rId201314"/>
    </p:embeddedFont>
    <p:embeddedFont>
      <p:font typeface="Hanken Grotesk SemiBold"/>
      <p:regular r:id="rId201315"/>
    </p:embeddedFont>
    <p:embeddedFont>
      <p:font typeface="Hanken Grotesk Bold"/>
      <p:regular r:id="rId201316"/>
    </p:embeddedFont>
    <p:embeddedFont>
      <p:font typeface="Urbanist"/>
      <p:regular r:id="rId201317"/>
    </p:embeddedFont>
    <p:embeddedFont>
      <p:font typeface="Urbanis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3B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3B1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683456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BEHAVIOR / EXECUTIVE READOUT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4035822"/>
            <a:ext cx="10972526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Customer behavior points to three growth moves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609585" y="59995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Protect loyalty. Convert more subscribers. Control discount leakage.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01 — CUSTOMER BASE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292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3,900 purchases reveal a healthy but under-converted customer base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441873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demand is real. The next unlock is participation.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849463"/>
            <a:ext cx="3505112" cy="1547019"/>
          </a:xfrm>
          <a:prstGeom prst="roundRect">
            <a:avLst>
              <a:gd name="adj" fmla="val 739"/>
            </a:avLst>
          </a:prstGeom>
          <a:solidFill>
            <a:srgbClr val="3B1621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090764"/>
            <a:ext cx="304792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3,900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3484463"/>
            <a:ext cx="327651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Purchases in the dataset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9489" y="2849463"/>
            <a:ext cx="3403515" cy="1547019"/>
          </a:xfrm>
          <a:prstGeom prst="roundRect">
            <a:avLst>
              <a:gd name="adj" fmla="val 739"/>
            </a:avLst>
          </a:prstGeom>
          <a:solidFill>
            <a:srgbClr val="3B1621"/>
          </a:solidFill>
          <a:ln/>
        </p:spPr>
      </p:sp>
      <p:sp>
        <p:nvSpPr>
          <p:cNvPr id="9" name="Text 7"/>
          <p:cNvSpPr/>
          <p:nvPr/>
        </p:nvSpPr>
        <p:spPr>
          <a:xfrm>
            <a:off x="4648084" y="3090764"/>
            <a:ext cx="29463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$59.76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48084" y="3484463"/>
            <a:ext cx="31749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 purchase amount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797" y="2849463"/>
            <a:ext cx="3454314" cy="1547019"/>
          </a:xfrm>
          <a:prstGeom prst="roundRect">
            <a:avLst>
              <a:gd name="adj" fmla="val 739"/>
            </a:avLst>
          </a:prstGeom>
          <a:solidFill>
            <a:srgbClr val="6E3A4C"/>
          </a:solidFill>
          <a:ln/>
        </p:spPr>
      </p:sp>
      <p:sp>
        <p:nvSpPr>
          <p:cNvPr id="12" name="Text 10"/>
          <p:cNvSpPr/>
          <p:nvPr/>
        </p:nvSpPr>
        <p:spPr>
          <a:xfrm>
            <a:off x="8356391" y="3090764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3.75 / 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56391" y="3484463"/>
            <a:ext cx="322571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Average review rating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585" y="4701282"/>
            <a:ext cx="3505112" cy="1547118"/>
          </a:xfrm>
          <a:prstGeom prst="roundRect">
            <a:avLst>
              <a:gd name="adj" fmla="val 739"/>
            </a:avLst>
          </a:prstGeom>
          <a:solidFill>
            <a:srgbClr val="3B1621"/>
          </a:solidFill>
          <a:ln/>
        </p:spPr>
      </p:sp>
      <p:sp>
        <p:nvSpPr>
          <p:cNvPr id="15" name="Text 13"/>
          <p:cNvSpPr/>
          <p:nvPr/>
        </p:nvSpPr>
        <p:spPr>
          <a:xfrm>
            <a:off x="838179" y="4942582"/>
            <a:ext cx="304792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27%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8179" y="5336282"/>
            <a:ext cx="327651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Customers subscribe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19489" y="4701282"/>
            <a:ext cx="7162621" cy="1547118"/>
          </a:xfrm>
          <a:prstGeom prst="roundRect">
            <a:avLst>
              <a:gd name="adj" fmla="val 739"/>
            </a:avLst>
          </a:prstGeom>
          <a:solidFill>
            <a:srgbClr val="3B1621"/>
          </a:solidFill>
          <a:ln/>
        </p:spPr>
      </p:sp>
      <p:sp>
        <p:nvSpPr>
          <p:cNvPr id="18" name="Text 16"/>
          <p:cNvSpPr/>
          <p:nvPr/>
        </p:nvSpPr>
        <p:spPr>
          <a:xfrm>
            <a:off x="4648084" y="4942582"/>
            <a:ext cx="670543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73%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48084" y="5336282"/>
            <a:ext cx="693402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Customers do not subscribe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7895" y="6466086"/>
            <a:ext cx="333842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behavior points to three growth moves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— EXECUTIVE TAKEAWAY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292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Three growth moves stand out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771352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evidence points to a balanced agenda, not one oversized bet.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407543"/>
            <a:ext cx="80881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3B1621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656483"/>
            <a:ext cx="3454314" cy="19050"/>
          </a:xfrm>
          <a:prstGeom prst="rect">
            <a:avLst/>
          </a:prstGeom>
          <a:solidFill>
            <a:srgbClr val="3B1621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794893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Protect loyalty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3188593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Loyal customers are the dominant segment: 3,116 customers.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8691" y="2178943"/>
            <a:ext cx="3454314" cy="4069457"/>
          </a:xfrm>
          <a:prstGeom prst="rect">
            <a:avLst/>
          </a:prstGeom>
          <a:solidFill>
            <a:srgbClr val="6E3A4C"/>
          </a:solidFill>
          <a:ln/>
        </p:spPr>
      </p:sp>
      <p:sp>
        <p:nvSpPr>
          <p:cNvPr id="10" name="Text 8"/>
          <p:cNvSpPr/>
          <p:nvPr/>
        </p:nvSpPr>
        <p:spPr>
          <a:xfrm>
            <a:off x="4597285" y="2407543"/>
            <a:ext cx="80881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97285" y="2656483"/>
            <a:ext cx="2997125" cy="19050"/>
          </a:xfrm>
          <a:prstGeom prst="rect">
            <a:avLst/>
          </a:prstGeom>
          <a:solidFill>
            <a:srgbClr val="3B1621"/>
          </a:solidFill>
          <a:ln/>
        </p:spPr>
      </p:sp>
      <p:sp>
        <p:nvSpPr>
          <p:cNvPr id="12" name="Text 10"/>
          <p:cNvSpPr/>
          <p:nvPr/>
        </p:nvSpPr>
        <p:spPr>
          <a:xfrm>
            <a:off x="4597285" y="2794893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Convert more subscribers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97285" y="3188593"/>
            <a:ext cx="299712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Non-subscribers generate more total revenue because they are the larger group: $170,436 versus $62,645.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7797" y="2407543"/>
            <a:ext cx="80881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3B1621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7797" y="2656483"/>
            <a:ext cx="3454314" cy="19050"/>
          </a:xfrm>
          <a:prstGeom prst="rect">
            <a:avLst/>
          </a:prstGeom>
          <a:solidFill>
            <a:srgbClr val="3B1621"/>
          </a:solidFill>
          <a:ln/>
        </p:spPr>
      </p:sp>
      <p:sp>
        <p:nvSpPr>
          <p:cNvPr id="16" name="Text 14"/>
          <p:cNvSpPr/>
          <p:nvPr/>
        </p:nvSpPr>
        <p:spPr>
          <a:xfrm>
            <a:off x="8127797" y="2794893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Control discount leakage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27797" y="3188593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Discount-heavy products show clear margin-management candidates.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7895" y="6466086"/>
            <a:ext cx="333842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behavior points to three growth moves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— CATEGORY PERFORMANCE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292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Clothing leads the commercial engine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717576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Clothing leads both revenue and sales volume, with a clear step down to the other categories.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25166"/>
            <a:ext cx="10972526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628144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category leadership to anchor campaigns, then build targeted plays for smaller categories.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77895" y="6466086"/>
            <a:ext cx="333842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behavior points to three growth moves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— CUSTOMER MIX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292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Male customers drive more revenue in this dataset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88096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Male-customer revenue is higher in the observed transactions.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95687"/>
            <a:ext cx="10972526" cy="203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585" y="4986437"/>
            <a:ext cx="5333867" cy="706041"/>
          </a:xfrm>
          <a:prstGeom prst="rect">
            <a:avLst/>
          </a:prstGeom>
          <a:solidFill>
            <a:srgbClr val="6E3A4C"/>
          </a:solidFill>
          <a:ln/>
        </p:spPr>
      </p:sp>
      <p:sp>
        <p:nvSpPr>
          <p:cNvPr id="7" name="Text 4"/>
          <p:cNvSpPr/>
          <p:nvPr/>
        </p:nvSpPr>
        <p:spPr>
          <a:xfrm>
            <a:off x="838179" y="5215037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Male-customer revenue: $157,890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48244" y="5215037"/>
            <a:ext cx="533386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Female-customer revenue: $75,191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09585" y="585218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this as a campaign allocation signal, not a blanket assumption about customer value.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77895" y="6466086"/>
            <a:ext cx="333842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behavior points to three growth moves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— LOYALTY &amp; SUBSCRIPTION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1774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Loyalty is strong; subscription is the open conversion opportunity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941016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customer base is heavily loyal, while repeat buyers remain largely outside the subscription program.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49243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OPEN MOVE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585" y="2763838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Connect repeat-purchase behavior with a clearer subscription benefit.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191000"/>
            <a:ext cx="5912992" cy="260171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439" y="4191000"/>
            <a:ext cx="1647784" cy="21971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7895" y="6466086"/>
            <a:ext cx="333842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behavior points to three growth moves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— PRICING DISCIPLINE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292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Discounts are concentrated in products where pricing discipline matters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88096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Five products have discount rates near 50%, creating a focused margin-management list.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95687"/>
            <a:ext cx="10972526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585" y="5240437"/>
            <a:ext cx="5333867" cy="954881"/>
          </a:xfrm>
          <a:prstGeom prst="rect">
            <a:avLst/>
          </a:prstGeom>
          <a:solidFill>
            <a:srgbClr val="6E3A4C"/>
          </a:solidFill>
          <a:ln/>
        </p:spPr>
      </p:sp>
      <p:sp>
        <p:nvSpPr>
          <p:cNvPr id="7" name="Text 4"/>
          <p:cNvSpPr/>
          <p:nvPr/>
        </p:nvSpPr>
        <p:spPr>
          <a:xfrm>
            <a:off x="838179" y="5469037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839 customers used discounts and still spent above the average purchase amount.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48244" y="5469037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Prioritize tests that separate incremental demand from margin giveback.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7895" y="6466086"/>
            <a:ext cx="333842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behavior points to three growth moves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— CAMPAIGN SIGNAL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292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Top-rated products can carry the next campaign wave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441873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Pair proof of satisfaction with the products that already have demand.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3078063"/>
            <a:ext cx="3809905" cy="25963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81371" y="3078063"/>
            <a:ext cx="640073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Top five by average rating: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81371" y="3431679"/>
            <a:ext cx="6400739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Gloves 3.86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Sandals 3.84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Boots 3.82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Hat 3.80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Skirt 3.78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9585" y="606272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Best-selling products by category include Jewelry, Blouse, Sandals, and Jacket.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77895" y="6466086"/>
            <a:ext cx="333842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behavior points to three growth moves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— AGE MIX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292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Young adults contribute the most revenue, but every age group matters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88096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Young adults lead revenue, with a relatively balanced contribution across the other groups.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95687"/>
            <a:ext cx="10972526" cy="311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981164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spread is meaningful but not extreme, supporting differentiated messaging rather than exclusion.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77895" y="6466086"/>
            <a:ext cx="333842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behavior points to three growth moves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944150" y="6466086"/>
            <a:ext cx="24754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2D27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— SHIPPING SIGNAL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00292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BF3E6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Express shipping slightly lifts average order value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81746"/>
            <a:ext cx="1097252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Use shipping as a value proposition to test alongside subscription benefits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75446"/>
            <a:ext cx="6222844" cy="279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4918" y="2788146"/>
            <a:ext cx="426719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$60.48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4918" y="3181846"/>
            <a:ext cx="426719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Express average purchase amount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4918" y="3602137"/>
            <a:ext cx="426719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2D27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$58.46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4918" y="3995837"/>
            <a:ext cx="4267192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Standard average purchase amount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Measure conversion and margin together before scaling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7895" y="6466086"/>
            <a:ext cx="333842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Customer behavior points to three growth moves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874501" y="6466086"/>
            <a:ext cx="3171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BF3E6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2026-10-20T22:21:47Z</dcterms:created>
  <dcterms:modified xsi:type="dcterms:W3CDTF">2026-10-20T22:21:47Z</dcterms:modified>
</cp:coreProperties>
</file>